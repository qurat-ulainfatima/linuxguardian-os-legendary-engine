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1" r:id="rId11"/>
    <p:sldId id="276" r:id="rId12"/>
    <p:sldId id="278" r:id="rId13"/>
    <p:sldId id="277" r:id="rId14"/>
    <p:sldId id="279" r:id="rId15"/>
    <p:sldId id="280" r:id="rId16"/>
    <p:sldId id="272" r:id="rId17"/>
    <p:sldId id="273" r:id="rId18"/>
    <p:sldId id="274" r:id="rId19"/>
    <p:sldId id="275" r:id="rId20"/>
    <p:sldId id="267" r:id="rId21"/>
  </p:sldIdLst>
  <p:sldSz cx="18288000" cy="10287000"/>
  <p:notesSz cx="6858000" cy="9144000"/>
  <p:embeddedFontLst>
    <p:embeddedFont>
      <p:font typeface="Assistant" pitchFamily="2" charset="-79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46"/>
        <p:guide pos="29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A902E6-8FD5-435C-9F8C-0884FF402E49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53ED7-E071-4921-BAE6-D5D021C7E7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874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53ED7-E071-4921-BAE6-D5D021C7E7D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602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6.png"/><Relationship Id="rId7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35271" y="4565874"/>
            <a:ext cx="5902101" cy="7974702"/>
            <a:chOff x="0" y="0"/>
            <a:chExt cx="7869467" cy="106329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69467" cy="7869467"/>
            </a:xfrm>
            <a:custGeom>
              <a:avLst/>
              <a:gdLst/>
              <a:ahLst/>
              <a:cxnLst/>
              <a:rect l="l" t="t" r="r" b="b"/>
              <a:pathLst>
                <a:path w="7869467" h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13695" y="6497867"/>
              <a:ext cx="7555772" cy="4135068"/>
            </a:xfrm>
            <a:custGeom>
              <a:avLst/>
              <a:gdLst/>
              <a:ahLst/>
              <a:cxnLst/>
              <a:rect l="l" t="t" r="r" b="b"/>
              <a:pathLst>
                <a:path w="7555772" h="4135068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12420824" y="-2399763"/>
            <a:ext cx="5902101" cy="7974702"/>
            <a:chOff x="0" y="0"/>
            <a:chExt cx="7869467" cy="106329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69467" cy="7869467"/>
            </a:xfrm>
            <a:custGeom>
              <a:avLst/>
              <a:gdLst/>
              <a:ahLst/>
              <a:cxnLst/>
              <a:rect l="l" t="t" r="r" b="b"/>
              <a:pathLst>
                <a:path w="7869467" h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13695" y="6497867"/>
              <a:ext cx="7555772" cy="4135068"/>
            </a:xfrm>
            <a:custGeom>
              <a:avLst/>
              <a:gdLst/>
              <a:ahLst/>
              <a:cxnLst/>
              <a:rect l="l" t="t" r="r" b="b"/>
              <a:pathLst>
                <a:path w="7555772" h="4135068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-2672315" y="-776716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6884370" y="7044598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405494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4949" y="0"/>
                </a:lnTo>
                <a:lnTo>
                  <a:pt x="4054949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953000" y="4213155"/>
            <a:ext cx="12055352" cy="2650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05"/>
              </a:lnSpc>
            </a:pPr>
            <a:r>
              <a:rPr lang="en-US" sz="13800" b="1" dirty="0">
                <a:solidFill>
                  <a:srgbClr val="0D1C38"/>
                </a:solidFill>
                <a:latin typeface="Roca One" panose="00000500000000000000"/>
                <a:ea typeface="Roca One" panose="00000500000000000000"/>
                <a:cs typeface="Roca One" panose="00000500000000000000"/>
                <a:sym typeface="Roca One" panose="00000500000000000000"/>
              </a:rPr>
              <a:t>GUARDIAN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3040" y="2971442"/>
            <a:ext cx="9155271" cy="2121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45"/>
              </a:lnSpc>
            </a:pPr>
            <a:r>
              <a:rPr lang="en-US" sz="13800" b="1" dirty="0">
                <a:solidFill>
                  <a:srgbClr val="0D1C38"/>
                </a:solidFill>
                <a:latin typeface="Roca One" panose="00000500000000000000"/>
                <a:ea typeface="Roca One" panose="00000500000000000000"/>
                <a:cs typeface="Roca One" panose="00000500000000000000"/>
                <a:sym typeface="Roca One" panose="00000500000000000000"/>
              </a:rPr>
              <a:t>LINUX</a:t>
            </a:r>
            <a:endParaRPr lang="en-US" sz="9600" b="1" dirty="0">
              <a:solidFill>
                <a:srgbClr val="0D1C38"/>
              </a:solidFill>
              <a:latin typeface="Roca One" panose="00000500000000000000"/>
              <a:ea typeface="Roca One" panose="00000500000000000000"/>
              <a:cs typeface="Roca One" panose="00000500000000000000"/>
              <a:sym typeface="Roca One" panose="000005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62200" y="3771900"/>
            <a:ext cx="14312265" cy="4739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altLang="en-US" sz="4000" spc="49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Linux Guardian is a lightweight Bash based monitorin tool designed to:</a:t>
            </a:r>
          </a:p>
          <a:p>
            <a:pPr marL="571500" indent="-571500" algn="l">
              <a:lnSpc>
                <a:spcPts val="4620"/>
              </a:lnSpc>
              <a:buFont typeface="Wingdings" panose="05000000000000000000" charset="0"/>
              <a:buChar char="Ø"/>
            </a:pPr>
            <a:r>
              <a:rPr lang="en-US" altLang="en-US" sz="4000" spc="49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Continuously monitor running processes</a:t>
            </a:r>
          </a:p>
          <a:p>
            <a:pPr marL="571500" indent="-571500" algn="l">
              <a:lnSpc>
                <a:spcPts val="4620"/>
              </a:lnSpc>
              <a:buFont typeface="Wingdings" panose="05000000000000000000" charset="0"/>
              <a:buChar char="Ø"/>
            </a:pPr>
            <a:r>
              <a:rPr lang="en-US" altLang="en-US" sz="4000" spc="49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Detect abnormal CPU or memory usage</a:t>
            </a:r>
          </a:p>
          <a:p>
            <a:pPr marL="571500" indent="-571500" algn="l">
              <a:lnSpc>
                <a:spcPts val="4620"/>
              </a:lnSpc>
              <a:buFont typeface="Wingdings" panose="05000000000000000000" charset="0"/>
              <a:buChar char="Ø"/>
            </a:pPr>
            <a:r>
              <a:rPr lang="en-US" altLang="en-US" sz="4000" spc="49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Automatically terminate harmful or runaway processes</a:t>
            </a:r>
          </a:p>
          <a:p>
            <a:pPr marL="571500" indent="-571500" algn="l">
              <a:lnSpc>
                <a:spcPts val="4620"/>
              </a:lnSpc>
              <a:buFont typeface="Wingdings" panose="05000000000000000000" charset="0"/>
              <a:buChar char="Ø"/>
            </a:pPr>
            <a:r>
              <a:rPr lang="en-US" altLang="en-US" sz="4000" spc="49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Maintain activity logs for system administrators</a:t>
            </a:r>
          </a:p>
          <a:p>
            <a:pPr algn="l">
              <a:lnSpc>
                <a:spcPts val="4620"/>
              </a:lnSpc>
            </a:pPr>
            <a:r>
              <a:rPr lang="en-US" altLang="en-US" sz="4000" spc="49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It acts as a guardian for Linux systems by preventing resource exhaustion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95800" y="1790700"/>
            <a:ext cx="8893810" cy="1025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10000" b="1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Introduction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76040" y="4726940"/>
            <a:ext cx="11653520" cy="276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Protect system performance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Prevent system crashes due to high resource usage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Automate process monitoring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Provide configurable thresholds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Maintain logs for auditing and troubleshooting</a:t>
            </a:r>
            <a:r>
              <a:rPr lang="en-US" sz="3600" spc="48">
                <a:solidFill>
                  <a:srgbClr val="0E182F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1000" y="2061210"/>
            <a:ext cx="16977360" cy="26657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0" b="1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Objective of 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800" b="1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Linux Guardian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667304" y="3197728"/>
            <a:ext cx="11384568" cy="550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3055" lvl="1" indent="0" algn="just">
              <a:lnSpc>
                <a:spcPct val="100000"/>
              </a:lnSpc>
              <a:buFont typeface="Arial" panose="020B0604020202020204"/>
              <a:buNone/>
            </a:pPr>
            <a:r>
              <a:rPr lang="en-US" sz="3600" spc="43">
                <a:solidFill>
                  <a:srgbClr val="0D1C38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rPr>
              <a:t> </a:t>
            </a:r>
            <a:r>
              <a:rPr lang="en-US" altLang="en-US" sz="3600" b="1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Main Components</a:t>
            </a:r>
          </a:p>
          <a:p>
            <a:pPr marL="313055" lvl="1" indent="0" algn="just">
              <a:lnSpc>
                <a:spcPct val="100000"/>
              </a:lnSpc>
              <a:buFont typeface="Arial" panose="020B0604020202020204"/>
              <a:buNone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1.	menu.sh</a:t>
            </a:r>
          </a:p>
          <a:p>
            <a:pPr marL="770255" lvl="1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User interface (menu-driven)</a:t>
            </a:r>
          </a:p>
          <a:p>
            <a:pPr marL="313055" lvl="1" indent="0" algn="just">
              <a:lnSpc>
                <a:spcPct val="100000"/>
              </a:lnSpc>
              <a:buFont typeface="Arial" panose="020B0604020202020204"/>
              <a:buNone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2.	monitor.sh</a:t>
            </a:r>
          </a:p>
          <a:p>
            <a:pPr marL="770255" lvl="1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Background monitoring engine</a:t>
            </a:r>
          </a:p>
          <a:p>
            <a:pPr marL="313055" lvl="1" indent="0" algn="just">
              <a:lnSpc>
                <a:spcPct val="100000"/>
              </a:lnSpc>
              <a:buFont typeface="Arial" panose="020B0604020202020204"/>
              <a:buNone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3.	thresholds.conf</a:t>
            </a:r>
          </a:p>
          <a:p>
            <a:pPr marL="770255" lvl="1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Configuration file for limits</a:t>
            </a:r>
          </a:p>
          <a:p>
            <a:pPr marL="313055" lvl="1" indent="0" algn="just">
              <a:lnSpc>
                <a:spcPct val="100000"/>
              </a:lnSpc>
              <a:buFont typeface="Arial" panose="020B0604020202020204"/>
              <a:buNone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4.	logs/activity.txt</a:t>
            </a:r>
          </a:p>
          <a:p>
            <a:pPr marL="770255" lvl="1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Stores monitoring activity</a:t>
            </a:r>
          </a:p>
          <a:p>
            <a:pPr marL="313055" lvl="1" indent="0" algn="just">
              <a:lnSpc>
                <a:spcPts val="4060"/>
              </a:lnSpc>
              <a:buFont typeface="Arial" panose="020B0604020202020204"/>
              <a:buNone/>
            </a:pPr>
            <a:endParaRPr lang="en-US" altLang="en-US" sz="3600" spc="43">
              <a:solidFill>
                <a:srgbClr val="0D1C38"/>
              </a:solidFill>
              <a:latin typeface="Times New Roman" panose="02020603050405020304" charset="0"/>
              <a:ea typeface="Assistant" panose="00000500000000000000"/>
              <a:cs typeface="Times New Roman" panose="02020603050405020304" charset="0"/>
              <a:sym typeface="Assistant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429000" y="1866900"/>
            <a:ext cx="11078845" cy="974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altLang="en-US" sz="8800" b="1">
                <a:solidFill>
                  <a:srgbClr val="0D1C38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System Architecture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76904" y="3390768"/>
            <a:ext cx="11384568" cy="547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3055" lvl="1" indent="0" algn="just">
              <a:lnSpc>
                <a:spcPct val="100000"/>
              </a:lnSpc>
              <a:buFont typeface="Arial" panose="020B0604020202020204"/>
              <a:buNone/>
            </a:pPr>
            <a:r>
              <a:rPr lang="en-US" altLang="en-US" sz="3600" b="1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Features:</a:t>
            </a:r>
          </a:p>
          <a:p>
            <a:pPr marL="884555" lvl="1" indent="-5715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	Displays interactive menu</a:t>
            </a:r>
          </a:p>
          <a:p>
            <a:pPr marL="884555" lvl="1" indent="-5715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	Allows user to:</a:t>
            </a:r>
          </a:p>
          <a:p>
            <a:pPr marL="884555" lvl="1" indent="-5715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	Start monitoring</a:t>
            </a:r>
          </a:p>
          <a:p>
            <a:pPr marL="884555" lvl="1" indent="-5715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	View logs</a:t>
            </a:r>
          </a:p>
          <a:p>
            <a:pPr marL="884555" lvl="1" indent="-5715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	Clear logs</a:t>
            </a:r>
          </a:p>
          <a:p>
            <a:pPr marL="884555" lvl="1" indent="-5715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	Change CPU &amp; memory thresholds</a:t>
            </a:r>
          </a:p>
          <a:p>
            <a:pPr marL="884555" lvl="1" indent="-5715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3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	Exit program</a:t>
            </a:r>
          </a:p>
          <a:p>
            <a:pPr marL="313055" lvl="1" indent="0" algn="just">
              <a:lnSpc>
                <a:spcPts val="4060"/>
              </a:lnSpc>
              <a:buFont typeface="Arial" panose="020B0604020202020204"/>
              <a:buNone/>
            </a:pPr>
            <a:endParaRPr lang="en-US" altLang="en-US" sz="2900" spc="43">
              <a:solidFill>
                <a:srgbClr val="0D1C38"/>
              </a:solidFill>
              <a:latin typeface="Assistant" panose="00000500000000000000"/>
              <a:ea typeface="Assistant" panose="00000500000000000000"/>
              <a:cs typeface="Assistant" panose="00000500000000000000"/>
              <a:sym typeface="Assistant" panose="00000500000000000000"/>
            </a:endParaRPr>
          </a:p>
          <a:p>
            <a:pPr marL="313055" lvl="1" indent="0" algn="just">
              <a:lnSpc>
                <a:spcPts val="4060"/>
              </a:lnSpc>
              <a:buFont typeface="Arial" panose="020B0604020202020204"/>
              <a:buNone/>
            </a:pPr>
            <a:r>
              <a:rPr lang="en-US" sz="2900" spc="43">
                <a:solidFill>
                  <a:srgbClr val="0D1C38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76600" y="1866900"/>
            <a:ext cx="12727940" cy="1948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altLang="en-US" sz="8800" b="1">
                <a:solidFill>
                  <a:srgbClr val="0D1C38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Menu Script (menu.sh)</a:t>
            </a:r>
          </a:p>
          <a:p>
            <a:pPr algn="l">
              <a:lnSpc>
                <a:spcPts val="7600"/>
              </a:lnSpc>
            </a:pPr>
            <a:endParaRPr lang="en-US" altLang="en-US" sz="8800" b="1">
              <a:solidFill>
                <a:srgbClr val="0D1C38"/>
              </a:solidFill>
              <a:latin typeface="Times New Roman" panose="02020603050405020304" charset="0"/>
              <a:ea typeface="Roca One" panose="00000500000000000000"/>
              <a:cs typeface="Times New Roman" panose="02020603050405020304" charset="0"/>
              <a:sym typeface="Roca One" panose="000005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505136" y="3695869"/>
            <a:ext cx="9101349" cy="387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37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User friendly interface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37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Automated CPU &amp; memory monitoring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37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Real-time threshold updates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37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No manual script editing required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37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Lightweight and fast execution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37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Works on any Linux system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37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Automatic process</a:t>
            </a:r>
            <a:r>
              <a:rPr lang="" altLang="en-US" sz="3600" spc="37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 </a:t>
            </a:r>
            <a:r>
              <a:rPr lang="en-US" altLang="en-US" sz="3600" spc="37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termination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86504" y="2248030"/>
            <a:ext cx="955995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8800" b="1">
                <a:solidFill>
                  <a:srgbClr val="0D1C38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Key Advantages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931158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392805" y="4686300"/>
            <a:ext cx="10971530" cy="4326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3600" b="1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Functionality: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Loads CPU and memory limits from thresholds.conf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Checks all running processes every 5 seconds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Identifies processes exceeding limits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Attempts soft kill (SIGTERM)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If unsuccessful, applies force kill (SIGKILL)</a:t>
            </a:r>
          </a:p>
          <a:p>
            <a:pPr algn="just">
              <a:lnSpc>
                <a:spcPts val="3910"/>
              </a:lnSpc>
            </a:pPr>
            <a:endParaRPr lang="en-US" altLang="en-US" sz="2795" spc="41">
              <a:solidFill>
                <a:srgbClr val="0D1C38"/>
              </a:solidFill>
              <a:latin typeface="Assistant" panose="00000500000000000000"/>
              <a:ea typeface="Assistant" panose="00000500000000000000"/>
              <a:cs typeface="Assistant" panose="00000500000000000000"/>
              <a:sym typeface="Assistant" panose="00000500000000000000"/>
            </a:endParaRPr>
          </a:p>
          <a:p>
            <a:pPr algn="just">
              <a:lnSpc>
                <a:spcPts val="3910"/>
              </a:lnSpc>
            </a:pPr>
            <a:endParaRPr lang="en-US" altLang="en-US" sz="2795" spc="41">
              <a:solidFill>
                <a:srgbClr val="0D1C38"/>
              </a:solidFill>
              <a:latin typeface="Assistant" panose="00000500000000000000"/>
              <a:ea typeface="Assistant" panose="00000500000000000000"/>
              <a:cs typeface="Assistant" panose="00000500000000000000"/>
              <a:sym typeface="Assistant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50720" y="2095500"/>
            <a:ext cx="14436090" cy="307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altLang="en-US" sz="8800">
                <a:solidFill>
                  <a:srgbClr val="0D1C38"/>
                </a:solidFill>
                <a:latin typeface="Roca One" panose="00000500000000000000"/>
                <a:ea typeface="Roca One" panose="00000500000000000000"/>
                <a:cs typeface="Roca One" panose="00000500000000000000"/>
                <a:sym typeface="Roca One" panose="00000500000000000000"/>
              </a:rPr>
              <a:t> </a:t>
            </a:r>
            <a:r>
              <a:rPr lang="en-US" altLang="en-US" sz="8800" b="1">
                <a:solidFill>
                  <a:srgbClr val="0D1C38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Monitoring Script (monitor.sh)</a:t>
            </a:r>
          </a:p>
          <a:p>
            <a:pPr algn="ctr">
              <a:lnSpc>
                <a:spcPts val="8000"/>
              </a:lnSpc>
            </a:pPr>
            <a:endParaRPr lang="en-US" altLang="en-US" sz="8800" b="1">
              <a:solidFill>
                <a:srgbClr val="0D1C38"/>
              </a:solidFill>
              <a:latin typeface="Times New Roman" panose="02020603050405020304" charset="0"/>
              <a:ea typeface="Roca One" panose="00000500000000000000"/>
              <a:cs typeface="Times New Roman" panose="02020603050405020304" charset="0"/>
              <a:sym typeface="Roca One" panose="000005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5943627" y="876294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876800" y="3619500"/>
            <a:ext cx="8318500" cy="45688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600" b="1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Two Steps Killing Method</a:t>
            </a:r>
          </a:p>
          <a:p>
            <a:pPr algn="just">
              <a:lnSpc>
                <a:spcPct val="100000"/>
              </a:lnSpc>
            </a:pPr>
            <a:r>
              <a:rPr lang="en-US" sz="3600" b="1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1. Soft Kill</a:t>
            </a:r>
          </a:p>
          <a:p>
            <a:pPr algn="just">
              <a:lnSpc>
                <a:spcPct val="100000"/>
              </a:lnSpc>
            </a:pPr>
            <a:r>
              <a:rPr lang="en-US" sz="3600" b="1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code : </a:t>
            </a:r>
            <a:r>
              <a:rPr lang="en-US" sz="3600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kill -15 PID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3600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Allows graceful shutdown</a:t>
            </a:r>
          </a:p>
          <a:p>
            <a:pPr indent="0" algn="just">
              <a:lnSpc>
                <a:spcPct val="100000"/>
              </a:lnSpc>
              <a:buFont typeface="Wingdings" panose="05000000000000000000" charset="0"/>
              <a:buNone/>
            </a:pPr>
            <a:endParaRPr lang="en-US" sz="3600" spc="41">
              <a:solidFill>
                <a:srgbClr val="0D1C38"/>
              </a:solidFill>
              <a:latin typeface="Times New Roman" panose="02020603050405020304" charset="0"/>
              <a:ea typeface="Assistant" panose="00000500000000000000"/>
              <a:cs typeface="Times New Roman" panose="02020603050405020304" charset="0"/>
              <a:sym typeface="Assistant" panose="00000500000000000000"/>
            </a:endParaRPr>
          </a:p>
          <a:p>
            <a:pPr algn="just">
              <a:lnSpc>
                <a:spcPct val="100000"/>
              </a:lnSpc>
            </a:pPr>
            <a:r>
              <a:rPr lang="en-US" sz="3600" b="1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2. Force Kill</a:t>
            </a:r>
          </a:p>
          <a:p>
            <a:pPr algn="just">
              <a:lnSpc>
                <a:spcPct val="100000"/>
              </a:lnSpc>
            </a:pPr>
            <a:r>
              <a:rPr lang="en-US" sz="3600" b="1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code : </a:t>
            </a:r>
            <a:r>
              <a:rPr lang="en-US" sz="3600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kill -9 PID</a:t>
            </a:r>
          </a:p>
          <a:p>
            <a:pPr marL="457200" indent="-457200"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sz="3600" spc="4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Used only if process does not stop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2600" y="2019300"/>
            <a:ext cx="14111605" cy="1025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altLang="en-US" sz="8800" b="1">
                <a:solidFill>
                  <a:srgbClr val="0D1C38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Process Termination Strategy</a:t>
            </a:r>
            <a:endParaRPr lang="en-US" sz="8800" b="1">
              <a:solidFill>
                <a:srgbClr val="0D1C38"/>
              </a:solidFill>
              <a:latin typeface="Times New Roman" panose="02020603050405020304" charset="0"/>
              <a:ea typeface="Roca One" panose="00000500000000000000"/>
              <a:cs typeface="Times New Roman" panose="02020603050405020304" charset="0"/>
              <a:sym typeface="Roca One" panose="000005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6125872" y="857244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724177" y="4000500"/>
            <a:ext cx="10536159" cy="387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en-US" sz="3600" b="1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Configurable</a:t>
            </a:r>
            <a:r>
              <a:rPr lang="" altLang="en-US" sz="3600" b="1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 </a:t>
            </a:r>
            <a:r>
              <a:rPr lang="en-US" altLang="en-US" sz="3600" b="1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Limits:</a:t>
            </a:r>
          </a:p>
          <a:p>
            <a:pPr algn="l">
              <a:lnSpc>
                <a:spcPct val="100000"/>
              </a:lnSpc>
            </a:pPr>
            <a:r>
              <a:rPr lang="en-US" altLang="en-US" sz="3600" b="1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  Code: </a:t>
            </a: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CPU_LIMIT=50</a:t>
            </a:r>
          </a:p>
          <a:p>
            <a:pPr algn="l">
              <a:lnSpc>
                <a:spcPct val="100000"/>
              </a:lnSpc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             MEM_LIMIT=30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CPU limit in percentage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Memory limit in percentage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Can be changed directly from the menu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No script restart</a:t>
            </a:r>
            <a:r>
              <a:rPr lang="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 </a:t>
            </a: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required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33800" y="1714500"/>
            <a:ext cx="12793345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Threshold Configuration (</a:t>
            </a:r>
            <a:r>
              <a:rPr lang="en-US" altLang="en-US" sz="8000" b="1" dirty="0" err="1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thresholds.conf</a:t>
            </a: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490AE-96C4-9A49-C5BE-3C25091A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AE5007-4986-EE6A-6E00-1B263D61C72E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61AF663-DE8D-567B-87A5-3462091BD4EA}"/>
              </a:ext>
            </a:extLst>
          </p:cNvPr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F541059-C590-6FF5-4A7F-004D7C20D50E}"/>
                </a:ext>
              </a:extLst>
            </p:cNvPr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75A5E30-84C1-D839-2582-427908B3AEB3}"/>
                </a:ext>
              </a:extLst>
            </p:cNvPr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9B2432B-CA86-2AB3-8435-56F20C9863F1}"/>
              </a:ext>
            </a:extLst>
          </p:cNvPr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BC8402A5-350E-6E85-EA98-06CA7B5F1E1B}"/>
              </a:ext>
            </a:extLst>
          </p:cNvPr>
          <p:cNvSpPr txBox="1"/>
          <p:nvPr/>
        </p:nvSpPr>
        <p:spPr>
          <a:xfrm>
            <a:off x="5715001" y="1714500"/>
            <a:ext cx="71628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Logging System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1F3183D-FCD4-5D9E-7715-2DBF80427301}"/>
              </a:ext>
            </a:extLst>
          </p:cNvPr>
          <p:cNvSpPr/>
          <p:nvPr/>
        </p:nvSpPr>
        <p:spPr>
          <a:xfrm rot="-10800000">
            <a:off x="6125870" y="880603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2A63E9-96F7-5BA8-3BE2-8A71CE0F6D30}"/>
              </a:ext>
            </a:extLst>
          </p:cNvPr>
          <p:cNvSpPr txBox="1"/>
          <p:nvPr/>
        </p:nvSpPr>
        <p:spPr>
          <a:xfrm>
            <a:off x="1992551" y="3032465"/>
            <a:ext cx="15538145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3600" b="1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Activity Log Format</a:t>
            </a:r>
          </a:p>
          <a:p>
            <a:pPr algn="l">
              <a:lnSpc>
                <a:spcPct val="100000"/>
              </a:lnSpc>
            </a:pPr>
            <a:r>
              <a:rPr lang="en-US" altLang="en-US" sz="3600" b="1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Each entry contains:</a:t>
            </a:r>
            <a:endParaRPr lang="en-US" altLang="en-US" sz="3600" spc="48" dirty="0">
              <a:solidFill>
                <a:srgbClr val="0D1C38"/>
              </a:solidFill>
              <a:latin typeface="Times New Roman" panose="02020603050405020304" charset="0"/>
              <a:ea typeface="Assistant" panose="00000500000000000000"/>
              <a:cs typeface="Times New Roman" panose="02020603050405020304" charset="0"/>
              <a:sym typeface="Assistant" panose="0000050000000000000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Process ID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Process Name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CPU Usage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Memory Usage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Timestamp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Action Taken (Soft/Force Kill)</a:t>
            </a:r>
          </a:p>
          <a:p>
            <a:pPr algn="l">
              <a:lnSpc>
                <a:spcPct val="100000"/>
              </a:lnSpc>
            </a:pPr>
            <a:r>
              <a:rPr lang="en-US" altLang="en-US" sz="3600" b="1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Example Log Entry</a:t>
            </a:r>
          </a:p>
          <a:p>
            <a:pPr algn="l">
              <a:lnSpc>
                <a:spcPct val="100000"/>
              </a:lnSpc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1234 | </a:t>
            </a:r>
            <a:r>
              <a:rPr lang="en-US" altLang="en-US" sz="3600" spc="48" dirty="0" err="1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firefox</a:t>
            </a: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 | CPU : 78% | MEM : 40% | 2025-01-10 12:30:15 | Force Killed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CD931D0A-3880-B483-EBEC-FE285CF8E2A5}"/>
              </a:ext>
            </a:extLst>
          </p:cNvPr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320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8005-AB66-0AC2-0A9A-4DB80610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EE0CBE-0178-0653-454A-67882670C8A4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B5D9370-24FB-0BA7-950B-CA1D9C36FFC3}"/>
              </a:ext>
            </a:extLst>
          </p:cNvPr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2A85829-D70B-9A9F-E98C-F26769C01770}"/>
                </a:ext>
              </a:extLst>
            </p:cNvPr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6DA9ECB-C940-B0F4-845F-DDE5099BA67F}"/>
                </a:ext>
              </a:extLst>
            </p:cNvPr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5A03373-9003-032C-E10C-D0C144E3A66E}"/>
              </a:ext>
            </a:extLst>
          </p:cNvPr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1FD845B7-6A02-FE4B-9044-6E477C17F8B1}"/>
              </a:ext>
            </a:extLst>
          </p:cNvPr>
          <p:cNvSpPr txBox="1"/>
          <p:nvPr/>
        </p:nvSpPr>
        <p:spPr>
          <a:xfrm>
            <a:off x="7239000" y="1468852"/>
            <a:ext cx="71628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Menu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FA2099E-0788-F3A7-130D-88DC4B41804B}"/>
              </a:ext>
            </a:extLst>
          </p:cNvPr>
          <p:cNvSpPr/>
          <p:nvPr/>
        </p:nvSpPr>
        <p:spPr>
          <a:xfrm rot="-10800000">
            <a:off x="6125870" y="880603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C86C3755-B5BD-6D1A-B0E0-7560F331C5CB}"/>
              </a:ext>
            </a:extLst>
          </p:cNvPr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E66E43-62FF-296D-247C-98C4300B51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463" y="2676898"/>
            <a:ext cx="6306430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08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AE3EB-0995-CA96-C3E7-AA5B332A0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FC1C50-9D36-FCD0-E07E-ECE61297881B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81A8C89-4A63-86DE-1352-8E616DFBEE58}"/>
              </a:ext>
            </a:extLst>
          </p:cNvPr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0EF3FAF-7114-E653-2B19-83603A706CAA}"/>
                </a:ext>
              </a:extLst>
            </p:cNvPr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8EB5240-A7C9-23F5-1984-585B427923E7}"/>
                </a:ext>
              </a:extLst>
            </p:cNvPr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CD8837E-E3CA-E78F-B0DF-435C1CE838D6}"/>
              </a:ext>
            </a:extLst>
          </p:cNvPr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3F3E07A4-96D0-A55B-2ED4-784FB9BD89B5}"/>
              </a:ext>
            </a:extLst>
          </p:cNvPr>
          <p:cNvSpPr txBox="1"/>
          <p:nvPr/>
        </p:nvSpPr>
        <p:spPr>
          <a:xfrm>
            <a:off x="5435409" y="2041403"/>
            <a:ext cx="84582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Start Monitoring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8F9D22B-3CA9-0713-C831-1E7E8CFECE22}"/>
              </a:ext>
            </a:extLst>
          </p:cNvPr>
          <p:cNvSpPr/>
          <p:nvPr/>
        </p:nvSpPr>
        <p:spPr>
          <a:xfrm rot="-10800000">
            <a:off x="6125870" y="880603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D9FD07B0-8FE2-F564-8CAA-F8F9FD8AF891}"/>
              </a:ext>
            </a:extLst>
          </p:cNvPr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95842F-B719-E46B-40B3-B93EAB4C02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 b="37028"/>
          <a:stretch>
            <a:fillRect/>
          </a:stretch>
        </p:blipFill>
        <p:spPr>
          <a:xfrm>
            <a:off x="5279326" y="3237143"/>
            <a:ext cx="7715250" cy="454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3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BE3A-D0C6-04A7-33F7-0D28D0135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8D9893-3C56-76C3-EA6C-99485C357949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6412918-1823-D928-EEC5-E2203F58038A}"/>
              </a:ext>
            </a:extLst>
          </p:cNvPr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BB34387-A733-1606-6501-D2A217DE7676}"/>
                </a:ext>
              </a:extLst>
            </p:cNvPr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F484714-5EE8-1118-D8DA-4B2BC0B261A8}"/>
                </a:ext>
              </a:extLst>
            </p:cNvPr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6FD8CEC-7942-DAC8-CEA8-184A390FB3AF}"/>
              </a:ext>
            </a:extLst>
          </p:cNvPr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6DE6A7B2-9024-6339-135C-616D81043737}"/>
              </a:ext>
            </a:extLst>
          </p:cNvPr>
          <p:cNvSpPr txBox="1"/>
          <p:nvPr/>
        </p:nvSpPr>
        <p:spPr>
          <a:xfrm>
            <a:off x="6858000" y="1616420"/>
            <a:ext cx="71628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View Logs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6D5E3A29-4997-6E1E-72B1-D74114144380}"/>
              </a:ext>
            </a:extLst>
          </p:cNvPr>
          <p:cNvSpPr/>
          <p:nvPr/>
        </p:nvSpPr>
        <p:spPr>
          <a:xfrm rot="-10800000">
            <a:off x="6125870" y="880603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AAF7015-C657-6CC6-D7BC-CF5C6B717326}"/>
              </a:ext>
            </a:extLst>
          </p:cNvPr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19201B-6BEA-3EC3-B9FF-2D4B0085A6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652330"/>
            <a:ext cx="11540067" cy="60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8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5BBA2-0B10-0CD1-1938-F050D7657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E6187A-9774-9A78-BDDF-04F5C935FB94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6715C2D-45DD-8496-1038-B813FCF44C56}"/>
              </a:ext>
            </a:extLst>
          </p:cNvPr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F063A9C-3C69-3AAA-E57A-DC2A4A5D94AD}"/>
                </a:ext>
              </a:extLst>
            </p:cNvPr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D8A27C4-47BA-8EF0-9426-26ADE24957F6}"/>
                </a:ext>
              </a:extLst>
            </p:cNvPr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A22E1DC-1869-FEAF-C327-4C2340E4444B}"/>
              </a:ext>
            </a:extLst>
          </p:cNvPr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3D564776-B0C2-3A46-DFF0-FF9CB963B4E3}"/>
              </a:ext>
            </a:extLst>
          </p:cNvPr>
          <p:cNvSpPr txBox="1"/>
          <p:nvPr/>
        </p:nvSpPr>
        <p:spPr>
          <a:xfrm>
            <a:off x="4940108" y="1474060"/>
            <a:ext cx="9448801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Clear logs &amp;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 Change Thresholds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601B650F-F29C-CA84-32D7-44602963DE1E}"/>
              </a:ext>
            </a:extLst>
          </p:cNvPr>
          <p:cNvSpPr/>
          <p:nvPr/>
        </p:nvSpPr>
        <p:spPr>
          <a:xfrm rot="-10800000">
            <a:off x="6125870" y="880603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5B024AC2-E7EA-EE01-42FD-9B3177CE8F93}"/>
              </a:ext>
            </a:extLst>
          </p:cNvPr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0189AC-ACA9-00D0-914D-9BE1B74951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10" b="38888"/>
          <a:stretch>
            <a:fillRect/>
          </a:stretch>
        </p:blipFill>
        <p:spPr>
          <a:xfrm>
            <a:off x="1967151" y="3540781"/>
            <a:ext cx="7715250" cy="48101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D68036-69D9-3373-8D61-57A6C770C6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2" b="37417"/>
          <a:stretch>
            <a:fillRect/>
          </a:stretch>
        </p:blipFill>
        <p:spPr>
          <a:xfrm>
            <a:off x="9981619" y="3552325"/>
            <a:ext cx="6715607" cy="48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8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1755-B9F8-420B-4661-7F2320715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16BC80-CE0D-DAAE-39FB-98B4F43F5B90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D41FB89-FBB2-AEA9-462A-DD944EBDD019}"/>
              </a:ext>
            </a:extLst>
          </p:cNvPr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40DAD16-F791-2A91-274F-A035916159AD}"/>
                </a:ext>
              </a:extLst>
            </p:cNvPr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CC2C05D-F957-C23B-75E9-18904522BAF8}"/>
                </a:ext>
              </a:extLst>
            </p:cNvPr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0FCA4EA-332B-DBAC-7917-74EB185FFB8D}"/>
              </a:ext>
            </a:extLst>
          </p:cNvPr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204D6327-03F4-9D62-3777-AD762DAC9953}"/>
              </a:ext>
            </a:extLst>
          </p:cNvPr>
          <p:cNvSpPr txBox="1"/>
          <p:nvPr/>
        </p:nvSpPr>
        <p:spPr>
          <a:xfrm>
            <a:off x="7029075" y="1700378"/>
            <a:ext cx="71628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Exiting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F7342CA-7AFA-EC3E-644C-D034DC19D737}"/>
              </a:ext>
            </a:extLst>
          </p:cNvPr>
          <p:cNvSpPr/>
          <p:nvPr/>
        </p:nvSpPr>
        <p:spPr>
          <a:xfrm rot="-10800000">
            <a:off x="6125870" y="8806034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D63B87DF-E375-7CAB-0A52-B194BB9D78CD}"/>
              </a:ext>
            </a:extLst>
          </p:cNvPr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A5F020-F2AA-A961-4394-9573ABB779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057" y="3139949"/>
            <a:ext cx="8458199" cy="485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8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CA50B-2506-DC48-1CB7-FD4929C0D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0DED54-303F-8276-7DAB-749B8593D795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AF94E3E-359C-FC8A-3C53-26D8D25549CF}"/>
              </a:ext>
            </a:extLst>
          </p:cNvPr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90459F5-3187-81B9-B9C2-49FCF985E8A2}"/>
                </a:ext>
              </a:extLst>
            </p:cNvPr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21C0E27-A8A2-7EA1-AFBB-8DBB80A40F4D}"/>
                </a:ext>
              </a:extLst>
            </p:cNvPr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E3B7C9A-F8EC-AA75-49C6-7D0322E98AF9}"/>
              </a:ext>
            </a:extLst>
          </p:cNvPr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3FBA6936-FA7D-6EC6-3B93-B4DC0A1750BF}"/>
              </a:ext>
            </a:extLst>
          </p:cNvPr>
          <p:cNvSpPr txBox="1"/>
          <p:nvPr/>
        </p:nvSpPr>
        <p:spPr>
          <a:xfrm>
            <a:off x="2350077" y="2076207"/>
            <a:ext cx="13602442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Advantages of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Linux Guardian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405E4FB-BD40-07A7-93F4-55AD9D3932CE}"/>
              </a:ext>
            </a:extLst>
          </p:cNvPr>
          <p:cNvSpPr/>
          <p:nvPr/>
        </p:nvSpPr>
        <p:spPr>
          <a:xfrm rot="-10800000">
            <a:off x="6125870" y="8560983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9B01F-BEC9-8260-3584-7C820F816353}"/>
              </a:ext>
            </a:extLst>
          </p:cNvPr>
          <p:cNvSpPr txBox="1"/>
          <p:nvPr/>
        </p:nvSpPr>
        <p:spPr>
          <a:xfrm>
            <a:off x="4016782" y="4579030"/>
            <a:ext cx="8827849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Lightweight and fast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Fully Automated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Customizable thresholds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Improves System Stability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Easy to deploy on any Linux System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No external dependencies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BD56FD6-AD8D-2734-493E-BCAEEC4837C1}"/>
              </a:ext>
            </a:extLst>
          </p:cNvPr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0200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A29E9-A1B3-3259-9198-A74C9247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2886F0-E327-1931-368F-364E09D8B87D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1110E7D-E5B0-384A-9FF4-D6493B0FC35A}"/>
              </a:ext>
            </a:extLst>
          </p:cNvPr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6BA2B09-E462-C4F9-6FCB-48FDB5B84123}"/>
                </a:ext>
              </a:extLst>
            </p:cNvPr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1DFE8ED-1EC9-49AA-0901-53896802621B}"/>
                </a:ext>
              </a:extLst>
            </p:cNvPr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0AEFBA9-40AF-C0D8-53D6-39EBF39C7C79}"/>
              </a:ext>
            </a:extLst>
          </p:cNvPr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0B821DF6-2909-84DB-109F-C41488908A25}"/>
              </a:ext>
            </a:extLst>
          </p:cNvPr>
          <p:cNvSpPr txBox="1"/>
          <p:nvPr/>
        </p:nvSpPr>
        <p:spPr>
          <a:xfrm>
            <a:off x="2192883" y="2919970"/>
            <a:ext cx="1360244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Limitations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0CAE27E-9EC7-6EE2-E1DA-10B7C31EB399}"/>
              </a:ext>
            </a:extLst>
          </p:cNvPr>
          <p:cNvSpPr/>
          <p:nvPr/>
        </p:nvSpPr>
        <p:spPr>
          <a:xfrm rot="-10800000">
            <a:off x="6125870" y="8560983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767D2-44A4-95E7-4DE0-F5B9D4812193}"/>
              </a:ext>
            </a:extLst>
          </p:cNvPr>
          <p:cNvSpPr txBox="1"/>
          <p:nvPr/>
        </p:nvSpPr>
        <p:spPr>
          <a:xfrm>
            <a:off x="4856839" y="4847924"/>
            <a:ext cx="9537426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No Graphical Interface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No White List for trusted processes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Requires root privileges to kill processes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Can terminate critical system processes if limits are misconfigured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2EF2BA1-DE8D-BD74-CFCA-1A48B74BCE5E}"/>
              </a:ext>
            </a:extLst>
          </p:cNvPr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4159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29784-299C-83C0-7E5D-63E57584B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AB983E-D6FA-9A78-AF32-5DF6CE8ABC43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1C96CF4-09C4-0C5D-6CE3-6914856DB45F}"/>
              </a:ext>
            </a:extLst>
          </p:cNvPr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453333E-1EFD-FA15-CC92-950810D9DD6D}"/>
                </a:ext>
              </a:extLst>
            </p:cNvPr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96E9342-C634-B996-68C2-75E723EE0D31}"/>
                </a:ext>
              </a:extLst>
            </p:cNvPr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3244DDF-A2EE-E591-5D80-2EB39B9D01C7}"/>
              </a:ext>
            </a:extLst>
          </p:cNvPr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ED9184E5-DC2E-4C29-5F27-D858E5B1ADDA}"/>
              </a:ext>
            </a:extLst>
          </p:cNvPr>
          <p:cNvSpPr txBox="1"/>
          <p:nvPr/>
        </p:nvSpPr>
        <p:spPr>
          <a:xfrm>
            <a:off x="1992551" y="2677523"/>
            <a:ext cx="1360244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Future Enhancements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EACD838-FE9F-EB4A-438F-B510CAAB774F}"/>
              </a:ext>
            </a:extLst>
          </p:cNvPr>
          <p:cNvSpPr/>
          <p:nvPr/>
        </p:nvSpPr>
        <p:spPr>
          <a:xfrm rot="-10800000">
            <a:off x="6125870" y="8560983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97A692-5D45-2147-BDB0-3703ED65B582}"/>
              </a:ext>
            </a:extLst>
          </p:cNvPr>
          <p:cNvSpPr txBox="1"/>
          <p:nvPr/>
        </p:nvSpPr>
        <p:spPr>
          <a:xfrm>
            <a:off x="4016782" y="4449701"/>
            <a:ext cx="8827849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Add Process Whitelist.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Emails or Notifications alerts.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Graphical User Interphase (GUI).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Per User Process monitoring.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Real-time Dashboard.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Log rotation and compression.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73E6C894-FED2-E134-16CF-089C05214F7D}"/>
              </a:ext>
            </a:extLst>
          </p:cNvPr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7009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86CDB-1198-26A3-083E-22FDFCDF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5FF419-6DD4-C298-EA5B-31CDEE06FE8B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AE7F7B0-1CC1-724E-C89A-FCD2DDA68F82}"/>
              </a:ext>
            </a:extLst>
          </p:cNvPr>
          <p:cNvGrpSpPr/>
          <p:nvPr/>
        </p:nvGrpSpPr>
        <p:grpSpPr>
          <a:xfrm>
            <a:off x="1029443" y="1028700"/>
            <a:ext cx="16229114" cy="8229600"/>
            <a:chOff x="0" y="0"/>
            <a:chExt cx="42743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A24A731-00EE-0B5F-5F34-35D84DA8EAC7}"/>
                </a:ext>
              </a:extLst>
            </p:cNvPr>
            <p:cNvSpPr/>
            <p:nvPr/>
          </p:nvSpPr>
          <p:spPr>
            <a:xfrm>
              <a:off x="0" y="0"/>
              <a:ext cx="4274334" cy="2167467"/>
            </a:xfrm>
            <a:custGeom>
              <a:avLst/>
              <a:gdLst/>
              <a:ahLst/>
              <a:cxnLst/>
              <a:rect l="l" t="t" r="r" b="b"/>
              <a:pathLst>
                <a:path w="4274334" h="2167467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2C7A44-BE9D-92FB-32DD-534E929BBDEF}"/>
                </a:ext>
              </a:extLst>
            </p:cNvPr>
            <p:cNvSpPr txBox="1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4EE1ADB-AD9D-DD35-F8E1-61CBD1FEB7C2}"/>
              </a:ext>
            </a:extLst>
          </p:cNvPr>
          <p:cNvSpPr/>
          <p:nvPr/>
        </p:nvSpPr>
        <p:spPr>
          <a:xfrm>
            <a:off x="-6630940" y="3864288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DBBC5CA3-18AA-6EAC-E9BB-FE6053231DA0}"/>
              </a:ext>
            </a:extLst>
          </p:cNvPr>
          <p:cNvSpPr txBox="1"/>
          <p:nvPr/>
        </p:nvSpPr>
        <p:spPr>
          <a:xfrm>
            <a:off x="2514600" y="2066803"/>
            <a:ext cx="1360244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0" b="1" dirty="0">
                <a:solidFill>
                  <a:srgbClr val="0E182F"/>
                </a:solidFill>
                <a:latin typeface="Times New Roman" panose="02020603050405020304" charset="0"/>
                <a:ea typeface="Roca One" panose="00000500000000000000"/>
                <a:cs typeface="Times New Roman" panose="02020603050405020304" charset="0"/>
                <a:sym typeface="Roca One" panose="00000500000000000000"/>
              </a:rPr>
              <a:t>Conclusion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68F626C4-11B0-86C7-9511-C2FC40DACBEA}"/>
              </a:ext>
            </a:extLst>
          </p:cNvPr>
          <p:cNvSpPr/>
          <p:nvPr/>
        </p:nvSpPr>
        <p:spPr>
          <a:xfrm rot="-10800000">
            <a:off x="6125870" y="8560983"/>
            <a:ext cx="6036256" cy="3303478"/>
          </a:xfrm>
          <a:custGeom>
            <a:avLst/>
            <a:gdLst/>
            <a:ahLst/>
            <a:cxnLst/>
            <a:rect l="l" t="t" r="r" b="b"/>
            <a:pathLst>
              <a:path w="6036256" h="3303478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11310-49A5-5E64-0691-15D7A0FC014F}"/>
              </a:ext>
            </a:extLst>
          </p:cNvPr>
          <p:cNvSpPr txBox="1"/>
          <p:nvPr/>
        </p:nvSpPr>
        <p:spPr>
          <a:xfrm>
            <a:off x="3531795" y="3864288"/>
            <a:ext cx="11568051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en-US" sz="3600" b="1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Linux Guardian is a simple yet powerful Linux security and performance that:</a:t>
            </a:r>
          </a:p>
          <a:p>
            <a:endParaRPr lang="en-US" altLang="en-US" sz="3600" b="1" spc="48" dirty="0">
              <a:solidFill>
                <a:srgbClr val="0D1C38"/>
              </a:solidFill>
              <a:latin typeface="Times New Roman" panose="02020603050405020304" charset="0"/>
              <a:ea typeface="Assistant" panose="00000500000000000000"/>
              <a:cs typeface="Times New Roman" panose="02020603050405020304" charset="0"/>
              <a:sym typeface="Assistant" panose="0000050000000000000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Protects system resources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Automates Monitoring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Improves Reliability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3600" spc="48" dirty="0">
                <a:solidFill>
                  <a:srgbClr val="0D1C38"/>
                </a:solidFill>
                <a:latin typeface="Times New Roman" panose="02020603050405020304" charset="0"/>
                <a:ea typeface="Assistant" panose="00000500000000000000"/>
                <a:cs typeface="Times New Roman" panose="02020603050405020304" charset="0"/>
                <a:sym typeface="Assistant" panose="00000500000000000000"/>
              </a:rPr>
              <a:t>Demonstrates effective use of bash scripting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E51C1FBB-270E-80EA-80C7-A88ADB77D8C5}"/>
              </a:ext>
            </a:extLst>
          </p:cNvPr>
          <p:cNvSpPr/>
          <p:nvPr/>
        </p:nvSpPr>
        <p:spPr>
          <a:xfrm flipH="1" flipV="1">
            <a:off x="16310046" y="-2312817"/>
            <a:ext cx="8623491" cy="8750775"/>
          </a:xfrm>
          <a:custGeom>
            <a:avLst/>
            <a:gdLst/>
            <a:ahLst/>
            <a:cxnLst/>
            <a:rect l="l" t="t" r="r" b="b"/>
            <a:pathLst>
              <a:path w="8623491" h="8750775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828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35271" y="4565874"/>
            <a:ext cx="5902101" cy="7974702"/>
            <a:chOff x="0" y="0"/>
            <a:chExt cx="7869467" cy="106329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69467" cy="7869467"/>
            </a:xfrm>
            <a:custGeom>
              <a:avLst/>
              <a:gdLst/>
              <a:ahLst/>
              <a:cxnLst/>
              <a:rect l="l" t="t" r="r" b="b"/>
              <a:pathLst>
                <a:path w="7869467" h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13695" y="6497867"/>
              <a:ext cx="7555772" cy="4135068"/>
            </a:xfrm>
            <a:custGeom>
              <a:avLst/>
              <a:gdLst/>
              <a:ahLst/>
              <a:cxnLst/>
              <a:rect l="l" t="t" r="r" b="b"/>
              <a:pathLst>
                <a:path w="7555772" h="4135068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12385899" y="-2268953"/>
            <a:ext cx="5902101" cy="7974702"/>
            <a:chOff x="0" y="0"/>
            <a:chExt cx="7869467" cy="106329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69467" cy="7869467"/>
            </a:xfrm>
            <a:custGeom>
              <a:avLst/>
              <a:gdLst/>
              <a:ahLst/>
              <a:cxnLst/>
              <a:rect l="l" t="t" r="r" b="b"/>
              <a:pathLst>
                <a:path w="7869467" h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13695" y="6497867"/>
              <a:ext cx="7555772" cy="4135068"/>
            </a:xfrm>
            <a:custGeom>
              <a:avLst/>
              <a:gdLst/>
              <a:ahLst/>
              <a:cxnLst/>
              <a:rect l="l" t="t" r="r" b="b"/>
              <a:pathLst>
                <a:path w="7555772" h="4135068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-2672315" y="-776716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6884370" y="7044598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405494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4949" y="0"/>
                </a:lnTo>
                <a:lnTo>
                  <a:pt x="4054949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495800" y="3970102"/>
            <a:ext cx="10419516" cy="2346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330"/>
              </a:lnSpc>
            </a:pPr>
            <a:r>
              <a:rPr lang="en-US" sz="16220" dirty="0">
                <a:solidFill>
                  <a:srgbClr val="0D1C38"/>
                </a:solidFill>
                <a:latin typeface="Roca One" panose="00000500000000000000"/>
                <a:ea typeface="Roca One" panose="00000500000000000000"/>
                <a:cs typeface="Roca One" panose="00000500000000000000"/>
                <a:sym typeface="Roca One" panose="0000050000000000000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484</Words>
  <Application>Microsoft Office PowerPoint</Application>
  <PresentationFormat>Custom</PresentationFormat>
  <Paragraphs>115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Assistant</vt:lpstr>
      <vt:lpstr>Calibri</vt:lpstr>
      <vt:lpstr>Arial</vt:lpstr>
      <vt:lpstr>Times New Roman</vt:lpstr>
      <vt:lpstr>Wingdings</vt:lpstr>
      <vt:lpstr>Roca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hp-pro</dc:creator>
  <cp:lastModifiedBy>Qurat ul ain Fatima</cp:lastModifiedBy>
  <cp:revision>11</cp:revision>
  <dcterms:created xsi:type="dcterms:W3CDTF">2006-08-16T00:00:00Z</dcterms:created>
  <dcterms:modified xsi:type="dcterms:W3CDTF">2026-02-02T13:38:10Z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E471CF39365F4DF9A54BE6CA469E42C2_13</vt:lpwstr>
  </property>
  <property fmtid="{D5CDD505-2E9C-101B-9397-08002B2CF9AE}" pid="3" name="KSOProductBuildVer">
    <vt:lpwstr>1033-12.2.0.23155</vt:lpwstr>
  </property>
</Properties>
</file>